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(€)</c:v>
                </c:pt>
              </c:strCache>
            </c:strRef>
          </c:tx>
          <c:spPr>
            <a:solidFill>
              <a:srgbClr val="2C6E4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 Rincón</c:v>
                  </c:pt>
                  <c:pt idx="1">
                    <c:v>Los Bancales</c:v>
                  </c:pt>
                  <c:pt idx="2">
                    <c:v>La Solana</c:v>
                  </c:pt>
                  <c:pt idx="3">
                    <c:v>Fruchesco Eco</c:v>
                  </c:pt>
                  <c:pt idx="4">
                    <c:v>Palmeral Eco</c:v>
                  </c:pt>
                  <c:pt idx="5">
                    <c:v>La Dehesa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185000</c:v>
                </c:pt>
                <c:pt idx="1">
                  <c:v>156000</c:v>
                </c:pt>
                <c:pt idx="2">
                  <c:v>210000</c:v>
                </c:pt>
                <c:pt idx="3">
                  <c:v>280000</c:v>
                </c:pt>
                <c:pt idx="4">
                  <c:v>125000</c:v>
                </c:pt>
                <c:pt idx="5">
                  <c:v>145000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Costes (€)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 Rincón</c:v>
                  </c:pt>
                  <c:pt idx="1">
                    <c:v>Los Bancales</c:v>
                  </c:pt>
                  <c:pt idx="2">
                    <c:v>La Solana</c:v>
                  </c:pt>
                  <c:pt idx="3">
                    <c:v>Fruchesco Eco</c:v>
                  </c:pt>
                  <c:pt idx="4">
                    <c:v>Palmeral Eco</c:v>
                  </c:pt>
                  <c:pt idx="5">
                    <c:v>La Dehesa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98000</c:v>
                </c:pt>
                <c:pt idx="1">
                  <c:v>82000</c:v>
                </c:pt>
                <c:pt idx="2">
                  <c:v>95000</c:v>
                </c:pt>
                <c:pt idx="3">
                  <c:v>145000</c:v>
                </c:pt>
                <c:pt idx="4">
                  <c:v>72000</c:v>
                </c:pt>
                <c:pt idx="5">
                  <c:v>68000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2C6E4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4C956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AgroSinergia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Gestión Agrícola Integral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228600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Fruitum 2016 SL  ·  Fruchesco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Brevas · Higos · Granadas — Convencional &amp; Ecológico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Sinergia  |  Marzo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Fruitum &amp; Fruchesco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Líderes en producción y exportación de brevas, higos y granadas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3840480" cy="54864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Fruitum 2016 SL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Convencional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Sede: Albatera, Alicante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Cultivos: Breva, Higo, Granada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Superficie: 43.5 ha (5 fincas)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Empleados: 51-200 (picos en campaña)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Exportación: 90% (FR, UK, NL, IT, CA, BR, RU)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confección manual propia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463040"/>
            <a:ext cx="3840480" cy="54864"/>
          </a:xfrm>
          <a:prstGeom prst="rect">
            <a:avLst/>
          </a:prstGeom>
          <a:solidFill>
            <a:srgbClr val="4C956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645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Fruchesco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Ecológica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Sedes: Crevillente / Catral, Alicante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Cultivos: Granada eco, Higo eco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Superficie: 20.9 ha (2 fincas)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CAECV / Ecológico UE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 premium: Wonderful, C. Dama Negro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Mercados: UK, Países Bajos (canales eco)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B3A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una plataforma de gestión agrícola?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"/>
            <a:ext cx="5029200" cy="96012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0" y="365760"/>
            <a:ext cx="64008" cy="9601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0" y="438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64+ ha de cultivo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749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Multitud de parcelas, dos explotaciones (convencional + eco), fincas dispersas en 4 municipios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508760"/>
            <a:ext cx="5029200" cy="96012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1508760"/>
            <a:ext cx="64008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0" y="1581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200 empleados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1892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equipos, partes de trabajo, turnos de cosecha y confección manual coordinados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651760"/>
            <a:ext cx="5029200" cy="96012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0" y="2651760"/>
            <a:ext cx="64008" cy="9601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exportación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035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estrictos de trazabilidad, GlobalGAP, certificación eco CAECV, LMR para UK/UE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794760"/>
            <a:ext cx="5029200" cy="960120"/>
          </a:xfrm>
          <a:prstGeom prst="rect">
            <a:avLst/>
          </a:prstGeom>
          <a:solidFill>
            <a:srgbClr val="F8FA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3794760"/>
            <a:ext cx="64008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3867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digital SIEX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417880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Obligación legal de registro digital de todas las intervenciones fitosanitarias y fertilizantes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AgroSinergia: Plataforma integral diseñada para Fruitum y Fruchesco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463040"/>
          </a:xfrm>
          <a:prstGeom prst="rect">
            <a:avLst/>
          </a:prstGeom>
          <a:solidFill>
            <a:srgbClr val="2C6E49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72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y Cartografía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SIGPAC, mapas satélite reales con capa catastral española, coordenadas GPS de cada finca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1463040"/>
          </a:xfrm>
          <a:prstGeom prst="rect">
            <a:avLst/>
          </a:prstGeom>
          <a:solidFill>
            <a:srgbClr val="2C6E49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572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 + SIEX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digital completo de tratamientos, fertilizaciones, podas y cosechas. Cumplimiento normativo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463040"/>
          </a:xfrm>
          <a:prstGeom prst="rect">
            <a:avLst/>
          </a:prstGeom>
          <a:solidFill>
            <a:srgbClr val="2C6E49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72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Trabajo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tareas a operarios, control horario, confirmación en campo desde móvil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606040" cy="1463040"/>
          </a:xfrm>
          <a:prstGeom prst="rect">
            <a:avLst/>
          </a:prstGeom>
          <a:solidFill>
            <a:srgbClr val="2C6E49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264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fitosanitarios, fertilizantes, envases confección. Alertas de mínimos y caducidades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54680"/>
            <a:ext cx="2606040" cy="1463040"/>
          </a:xfrm>
          <a:prstGeom prst="rect">
            <a:avLst/>
          </a:prstGeom>
          <a:solidFill>
            <a:srgbClr val="2C6E49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264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y Rentabilidad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por parcela, cultivo y campaña. Márgenes breva vs granada, convencional vs ecológico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2606040" cy="1463040"/>
          </a:xfrm>
          <a:prstGeom prst="rect">
            <a:avLst/>
          </a:prstGeom>
          <a:solidFill>
            <a:srgbClr val="2C6E49">
              <a:alpha val="3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264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Vademecum Integrado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productos autorizados, dosis, plazos de seguridad. Productos ECO diferenciados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Módulos Integrados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una sola plataforma, diseñada para la operativa real de Fruitum &amp; Fruchesco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6E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OPERACIONES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1554480" cy="457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48840" y="169164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48840" y="1691640"/>
            <a:ext cx="1554480" cy="457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0" name="Text 8"/>
          <p:cNvSpPr/>
          <p:nvPr/>
        </p:nvSpPr>
        <p:spPr>
          <a:xfrm>
            <a:off x="222199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y Cultivos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0" y="169164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1691640"/>
            <a:ext cx="1554480" cy="457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3" name="Text 11"/>
          <p:cNvSpPr/>
          <p:nvPr/>
        </p:nvSpPr>
        <p:spPr>
          <a:xfrm>
            <a:off x="391363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con Catastro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32120" y="169164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32120" y="1691640"/>
            <a:ext cx="1554480" cy="457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/>
          <p:nvPr/>
        </p:nvSpPr>
        <p:spPr>
          <a:xfrm>
            <a:off x="560527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Intervenciones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23760" y="169164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23760" y="1691640"/>
            <a:ext cx="1554480" cy="457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9" name="Text 17"/>
          <p:cNvSpPr/>
          <p:nvPr/>
        </p:nvSpPr>
        <p:spPr>
          <a:xfrm>
            <a:off x="7296912" y="17373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de Trabajo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+ ANÁLISIS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880360"/>
            <a:ext cx="1554480" cy="457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2926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Vademecum Integrado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48840" y="28803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148840" y="2880360"/>
            <a:ext cx="1554480" cy="457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26" name="Text 24"/>
          <p:cNvSpPr/>
          <p:nvPr/>
        </p:nvSpPr>
        <p:spPr>
          <a:xfrm>
            <a:off x="2221992" y="2926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840480" y="28803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0" y="2880360"/>
            <a:ext cx="1554480" cy="457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29" name="Text 27"/>
          <p:cNvSpPr/>
          <p:nvPr/>
        </p:nvSpPr>
        <p:spPr>
          <a:xfrm>
            <a:off x="3913632" y="2926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Maquinaria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32120" y="28803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32120" y="2880360"/>
            <a:ext cx="1554480" cy="457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32" name="Text 30"/>
          <p:cNvSpPr/>
          <p:nvPr/>
        </p:nvSpPr>
        <p:spPr>
          <a:xfrm>
            <a:off x="5605272" y="2926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y Rentabilidad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223760" y="288036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2880360"/>
            <a:ext cx="1554480" cy="457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35" name="Text 33"/>
          <p:cNvSpPr/>
          <p:nvPr/>
        </p:nvSpPr>
        <p:spPr>
          <a:xfrm>
            <a:off x="7296912" y="2926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Técnico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+ ADMIN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06908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069080"/>
            <a:ext cx="1554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4114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Fertilizantes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48840" y="406908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148840" y="4069080"/>
            <a:ext cx="1554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2221992" y="4114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SIEX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40480" y="406908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840480" y="4069080"/>
            <a:ext cx="1554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Text 43"/>
          <p:cNvSpPr/>
          <p:nvPr/>
        </p:nvSpPr>
        <p:spPr>
          <a:xfrm>
            <a:off x="3913632" y="4114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32120" y="406908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32120" y="4069080"/>
            <a:ext cx="1554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8" name="Text 46"/>
          <p:cNvSpPr/>
          <p:nvPr/>
        </p:nvSpPr>
        <p:spPr>
          <a:xfrm>
            <a:off x="5605272" y="4114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Multi-Explotación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223760" y="4069080"/>
            <a:ext cx="1554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23760" y="4069080"/>
            <a:ext cx="15544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1" name="Text 49"/>
          <p:cNvSpPr/>
          <p:nvPr/>
        </p:nvSpPr>
        <p:spPr>
          <a:xfrm>
            <a:off x="7296912" y="41148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Permisos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Parcelas Reales Integradas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catastrales verificados, coordenadas GPS y mapas satélite con capa del Catastro español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16459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Municipio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6E4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Rincón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Higuera Colar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Bancales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Breva San Antonio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Solana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Granada Mollar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Fruchesco Eco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Granada Wonderful (ECO)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Crevillente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Palmeral Eco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Higuera C. Dama (ECO)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Dehesa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 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Higuera + Granado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Albatera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371600"/>
            <a:ext cx="3017520" cy="118872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4630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Batistes — La Romana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000804300XH84H0001ZU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4.066 m² construidos · Industrial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2743200"/>
            <a:ext cx="3017520" cy="1188720"/>
          </a:xfrm>
          <a:prstGeom prst="rect">
            <a:avLst/>
          </a:prstGeom>
          <a:solidFill>
            <a:srgbClr val="1B3A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28346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Confección — Albatera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Confección manual de fruta fresca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Cámaras frío · Líneas calibrado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4114800"/>
            <a:ext cx="3017520" cy="73152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0" name="Text 7"/>
          <p:cNvSpPr/>
          <p:nvPr/>
        </p:nvSpPr>
        <p:spPr>
          <a:xfrm>
            <a:off x="5760720" y="4114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64.3 ha + 2 instalaciones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Rentabilidad por Finca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 2025/2026 — Análisis de márgenes por parcela y tipo de producción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371600"/>
            <a:ext cx="2286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1371600"/>
            <a:ext cx="54864" cy="6858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7" name="Text 4"/>
          <p:cNvSpPr/>
          <p:nvPr/>
        </p:nvSpPr>
        <p:spPr>
          <a:xfrm>
            <a:off x="6675120" y="13898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1.101k €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75120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2194560"/>
            <a:ext cx="2286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194560"/>
            <a:ext cx="54864" cy="685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22128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560k €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75120" y="2578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Costes totales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3017520"/>
            <a:ext cx="2286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92240" y="3017520"/>
            <a:ext cx="54864" cy="685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30358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541k €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75120" y="3401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bruto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92240" y="3840480"/>
            <a:ext cx="22860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92240" y="3840480"/>
            <a:ext cx="54864" cy="68580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0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49.1%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67512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Ventajas Competitivas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Geofolia (ISAGRI) y otras soluciones del mercado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960120"/>
          </a:xfrm>
          <a:prstGeom prst="rect">
            <a:avLst/>
          </a:prstGeom>
          <a:solidFill>
            <a:srgbClr val="2C6E49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72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centralizadas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técnica integrada en la plataforma. Discusiones por parcela, con técnicos ATRIA y clientes export. Geofolia no lo tiene.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4114800" cy="960120"/>
          </a:xfrm>
          <a:prstGeom prst="rect">
            <a:avLst/>
          </a:prstGeom>
          <a:solidFill>
            <a:srgbClr val="2C6E49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141732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72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Multi-explotación real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64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Fruitum (convencional) y Fruchesco (eco) gestionadas desde un solo panel. Datos separados por certificación.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114800" cy="960120"/>
          </a:xfrm>
          <a:prstGeom prst="rect">
            <a:avLst/>
          </a:prstGeom>
          <a:solidFill>
            <a:srgbClr val="2C6E49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6032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615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Cartografía con Catastro WMS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07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satélite Esri + capa catastral española oficial integrada. Coordenadas GPS verificadas por parcela.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560320"/>
            <a:ext cx="4114800" cy="960120"/>
          </a:xfrm>
          <a:prstGeom prst="rect">
            <a:avLst/>
          </a:prstGeom>
          <a:solidFill>
            <a:srgbClr val="2C6E49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256032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615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Orientada a exportación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2907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 para cumplir GlobalGAP, certificación eco CAECV, LMR por mercado destino (UK, FR, NL).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4114800" cy="960120"/>
          </a:xfrm>
          <a:prstGeom prst="rect">
            <a:avLst/>
          </a:prstGeom>
          <a:solidFill>
            <a:srgbClr val="2C6E49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70332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58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confección integrada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050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stock de envases, líneas de confección, cámaras frío y logística de expedición desde la plataforma.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703320"/>
            <a:ext cx="4114800" cy="960120"/>
          </a:xfrm>
          <a:prstGeom prst="rect">
            <a:avLst/>
          </a:prstGeom>
          <a:solidFill>
            <a:srgbClr val="2C6E49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703320"/>
            <a:ext cx="54864" cy="960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758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Desarrollada por Somos Sinergia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0" y="40507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medida, soporte directo, personalización continua. Sin depender de multinacionales como ISAGRI.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Cumplimiento Normativo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SIEX, GlobalGAP, Certificación Ecológica CAECV y controles de exportación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8FA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 Digital SIEX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obligatorio de todas las intervenciones fitosanitarias. Generación automática del cuaderno de explotación.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42316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134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GlobalGAP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606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de parcela a envío. Registro de productos, dosis, plazos de seguridad. Auditoría preparada.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F8FA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1821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Ecológica CAECV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474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separado de parcelas eco (Fruchesco). Productos autorizados ECO diferenciados en Vademecum.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4160520"/>
            <a:ext cx="365760" cy="365760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50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LMR Export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3434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Límites Máximos de Residuos por mercado destino. Especial atención a UK post-Brexit.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C6E4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4C956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AgroSinergia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474720" y="1920240"/>
            <a:ext cx="2194560" cy="0"/>
          </a:xfrm>
          <a:prstGeom prst="line">
            <a:avLst/>
          </a:prstGeom>
          <a:noFill/>
          <a:ln w="317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EF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agrícola de Fruitum &amp; Fruchesco,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EF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plataforma.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291840"/>
            <a:ext cx="4572000" cy="1097280"/>
          </a:xfrm>
          <a:prstGeom prst="rect">
            <a:avLst/>
          </a:prstGeom>
          <a:solidFill>
            <a:srgbClr val="2C6E49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2918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Miquel Jordá — Somos Sinergia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EF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orihuela@somossinergia.es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C6E4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617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  ·  Presentación comercial  ·  Somos Sinergia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AgroSinergia — Plataforma de Gestión Agrícola para Fruitum &amp; Fruchesco</dc:title>
  <dc:subject>PptxGenJS Presentation</dc:subject>
  <dc:creator>Somos Sinergia</dc:creator>
  <cp:lastModifiedBy>Somos Sinergia</cp:lastModifiedBy>
  <cp:revision>1</cp:revision>
  <dcterms:created xsi:type="dcterms:W3CDTF">2026-03-03T16:30:14Z</dcterms:created>
  <dcterms:modified xsi:type="dcterms:W3CDTF">2026-03-03T16:30:14Z</dcterms:modified>
</cp:coreProperties>
</file>