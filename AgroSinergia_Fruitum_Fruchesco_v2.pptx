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(€)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 Rincón</c:v>
                  </c:pt>
                  <c:pt idx="1">
                    <c:v>Los Bancales</c:v>
                  </c:pt>
                  <c:pt idx="2">
                    <c:v>La Solana</c:v>
                  </c:pt>
                  <c:pt idx="3">
                    <c:v>Fruchesco Eco</c:v>
                  </c:pt>
                  <c:pt idx="4">
                    <c:v>Palmeral Eco</c:v>
                  </c:pt>
                  <c:pt idx="5">
                    <c:v>La Dehesa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185000</c:v>
                </c:pt>
                <c:pt idx="1">
                  <c:v>156000</c:v>
                </c:pt>
                <c:pt idx="2">
                  <c:v>210000</c:v>
                </c:pt>
                <c:pt idx="3">
                  <c:v>280000</c:v>
                </c:pt>
                <c:pt idx="4">
                  <c:v>125000</c:v>
                </c:pt>
                <c:pt idx="5">
                  <c:v>145000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Costes (€)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 Rincón</c:v>
                  </c:pt>
                  <c:pt idx="1">
                    <c:v>Los Bancales</c:v>
                  </c:pt>
                  <c:pt idx="2">
                    <c:v>La Solana</c:v>
                  </c:pt>
                  <c:pt idx="3">
                    <c:v>Fruchesco Eco</c:v>
                  </c:pt>
                  <c:pt idx="4">
                    <c:v>Palmeral Eco</c:v>
                  </c:pt>
                  <c:pt idx="5">
                    <c:v>La Dehesa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98000</c:v>
                </c:pt>
                <c:pt idx="1">
                  <c:v>82000</c:v>
                </c:pt>
                <c:pt idx="2">
                  <c:v>95000</c:v>
                </c:pt>
                <c:pt idx="3">
                  <c:v>145000</c:v>
                </c:pt>
                <c:pt idx="4">
                  <c:v>72000</c:v>
                </c:pt>
                <c:pt idx="5">
                  <c:v>68000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6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0F7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2C6E4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4C956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C6E49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AgroSinergia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Agrícola Integral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22860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Fruitum 2016 SL  ·  Fruchesco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Brevas · Higos · Granadas — Convencional &amp; Ecológico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617720"/>
            <a:ext cx="7315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Sinergia  |  Marzo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Fruitum &amp; Fruchesco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en producción y exportación de brevas, higos y granadas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931920" cy="73152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Fruitum 2016 SL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Convencional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Sede: Albatera, Alicante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Cultivos: Breva, Higo, Granada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Superficie: 43.5 ha (5 fincas)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Empleados: 51-200 (picos en campaña)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Exportación: 90% (FR, UK, NL, IT, CA, BR, RU)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confección manual propia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45920"/>
            <a:ext cx="3931920" cy="73152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Fruchesco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Ecológica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Sedes: Crevillente / Catral, Alicante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Cultivos: Granada eco, Higo eco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Superficie: 20.9 ha (2 fincas)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CAECV / Ecológico UE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 premium: Wonderful, C. Dama Negro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Mercados: UK, Países Bajos (canales eco)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plataforma de gestión agrícola?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228600"/>
            <a:ext cx="5212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228600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3017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94760" y="685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de cultivo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33832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 de parcelas, dos explotaciones (convencional + eco), fincas dispersas en 4 municipios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435608"/>
            <a:ext cx="5212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435608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94760" y="1892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54533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equipos, partes de trabajo, turnos de cosecha y confección manual coordinados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2642616"/>
            <a:ext cx="5212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2642616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2715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9476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7523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estrictos de trazabilidad, GlobalGAP, certificación eco CAECV, LMR para UK/UE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3849624"/>
            <a:ext cx="5212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3849624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39227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SIEX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94760" y="4306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digital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395935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legal de registro digital de todas las intervenciones fitosanitarias y fertilizantes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AgroSinergia: Plataforma integral diseñada para Fruitum y Fruchesco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1508760"/>
          </a:xfrm>
          <a:prstGeom prst="rect">
            <a:avLst/>
          </a:prstGeom>
          <a:solidFill>
            <a:srgbClr val="2C6E49">
              <a:alpha val="80000"/>
            </a:srgbClr>
          </a:solidFill>
          <a:ln w="1270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y Cartografía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SIGPAC, mapas satélite reales con capa catastral española, coordenadas GPS de cada finca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1508760"/>
          </a:xfrm>
          <a:prstGeom prst="rect">
            <a:avLst/>
          </a:prstGeom>
          <a:solidFill>
            <a:srgbClr val="2C6E49">
              <a:alpha val="80000"/>
            </a:srgbClr>
          </a:solidFill>
          <a:ln w="1270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 + SIEX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 completo de tratamientos, fertilizaciones, podas y cosechas. Cumplimiento normativo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508760"/>
          </a:xfrm>
          <a:prstGeom prst="rect">
            <a:avLst/>
          </a:prstGeom>
          <a:solidFill>
            <a:srgbClr val="2C6E49">
              <a:alpha val="80000"/>
            </a:srgbClr>
          </a:solidFill>
          <a:ln w="1270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Trabajo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tareas a operarios, control horario, confirmación en campo desde móvil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606040" cy="1508760"/>
          </a:xfrm>
          <a:prstGeom prst="rect">
            <a:avLst/>
          </a:prstGeom>
          <a:solidFill>
            <a:srgbClr val="2C6E49">
              <a:alpha val="80000"/>
            </a:srgbClr>
          </a:solidFill>
          <a:ln w="1270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fitosanitarios, fertilizantes, envases confección. Alertas de mínimos y caducidades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606040" cy="1508760"/>
          </a:xfrm>
          <a:prstGeom prst="rect">
            <a:avLst/>
          </a:prstGeom>
          <a:solidFill>
            <a:srgbClr val="2C6E49">
              <a:alpha val="80000"/>
            </a:srgbClr>
          </a:solidFill>
          <a:ln w="1270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y Rentabilidad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por parcela, cultivo y campaña. Márgenes breva vs granada, convencional vs ecológico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246120"/>
            <a:ext cx="2606040" cy="1508760"/>
          </a:xfrm>
          <a:prstGeom prst="rect">
            <a:avLst/>
          </a:prstGeom>
          <a:solidFill>
            <a:srgbClr val="2C6E49">
              <a:alpha val="80000"/>
            </a:srgbClr>
          </a:solidFill>
          <a:ln w="1270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Vademecum Integrado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productos autorizados, dosis, plazos de seguridad. Productos ECO diferenciados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Módulos Integrados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una sola plataforma, diseñada para la operativa real de Fruitum &amp; Fruchesco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OPERACIONES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1554480" cy="5486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1408" y="173736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21408" y="1737360"/>
            <a:ext cx="1554480" cy="5486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y Cultivos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173736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85616" y="1737360"/>
            <a:ext cx="1554480" cy="5486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3877056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con Catastro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9824" y="173736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9824" y="1737360"/>
            <a:ext cx="1554480" cy="5486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/>
          <p:nvPr/>
        </p:nvSpPr>
        <p:spPr>
          <a:xfrm>
            <a:off x="5541264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14032" y="173736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14032" y="1737360"/>
            <a:ext cx="1554480" cy="5486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9" name="Text 17"/>
          <p:cNvSpPr/>
          <p:nvPr/>
        </p:nvSpPr>
        <p:spPr>
          <a:xfrm>
            <a:off x="7205472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Trabajo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+ ANÁLISIS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71800"/>
            <a:ext cx="1554480" cy="5486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Vademecum Integrado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21408" y="297180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21408" y="2971800"/>
            <a:ext cx="1554480" cy="5486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26" name="Text 24"/>
          <p:cNvSpPr/>
          <p:nvPr/>
        </p:nvSpPr>
        <p:spPr>
          <a:xfrm>
            <a:off x="2212848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85616" y="297180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85616" y="2971800"/>
            <a:ext cx="1554480" cy="5486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29" name="Text 27"/>
          <p:cNvSpPr/>
          <p:nvPr/>
        </p:nvSpPr>
        <p:spPr>
          <a:xfrm>
            <a:off x="3877056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Maquinaria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49824" y="297180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9824" y="2971800"/>
            <a:ext cx="1554480" cy="5486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32" name="Text 30"/>
          <p:cNvSpPr/>
          <p:nvPr/>
        </p:nvSpPr>
        <p:spPr>
          <a:xfrm>
            <a:off x="5541264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y Rentabilidad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14032" y="297180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14032" y="2971800"/>
            <a:ext cx="1554480" cy="5486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35" name="Text 33"/>
          <p:cNvSpPr/>
          <p:nvPr/>
        </p:nvSpPr>
        <p:spPr>
          <a:xfrm>
            <a:off x="7205472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Técnico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+ ADMIN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206240"/>
            <a:ext cx="1554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Fertilizantes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21408" y="420624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121408" y="4206240"/>
            <a:ext cx="1554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2212848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SIEX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85616" y="420624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85616" y="4206240"/>
            <a:ext cx="1554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3877056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9824" y="420624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49824" y="4206240"/>
            <a:ext cx="1554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8" name="Text 46"/>
          <p:cNvSpPr/>
          <p:nvPr/>
        </p:nvSpPr>
        <p:spPr>
          <a:xfrm>
            <a:off x="5541264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Multi-Explotación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14032" y="4206240"/>
            <a:ext cx="1554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14032" y="4206240"/>
            <a:ext cx="1554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1" name="Text 49"/>
          <p:cNvSpPr/>
          <p:nvPr/>
        </p:nvSpPr>
        <p:spPr>
          <a:xfrm>
            <a:off x="7205472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Permisos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Parcelas Reales Integradas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catastrales verificados, coordenadas GPS y mapas satélite con capa del Catastro español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7373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Rincón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Higuera Colar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Bancales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Breva San Antonio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Solana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Granada Mollar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Fruchesco Eco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Granada Wonderful (ECO)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Crevillente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Palmeral Eco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Higuera C. Dama (ECO)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Dehesa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Higuera + Granado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71600"/>
            <a:ext cx="2743200" cy="109728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Batistes — La Romana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000804300XH84H0001ZU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4.066 m² construidos · Industrial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2651760"/>
            <a:ext cx="2743200" cy="109728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Confección — Albatera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Confección manual de fruta fresca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frío · Líneas calibrado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3977640"/>
            <a:ext cx="2743200" cy="777240"/>
          </a:xfrm>
          <a:prstGeom prst="rect">
            <a:avLst/>
          </a:prstGeom>
          <a:solidFill>
            <a:srgbClr val="2C6E4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977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64.3 ha + 2 instalaciones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Rentabilidad por Finca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2025/2026 — Análisis de márgenes por parcela y tipo de producción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1371600"/>
            <a:ext cx="64008" cy="7315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417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1.101k 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46520" y="18105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24028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240280"/>
            <a:ext cx="64008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286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560k €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46520" y="26791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totales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10896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3108960"/>
            <a:ext cx="64008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3154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541k €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46520" y="35478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397764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3977640"/>
            <a:ext cx="64008" cy="731520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4023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49.1%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446520" y="44165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Ventajas Competitivas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Geofolia (ISAGRI) y otras soluciones del mercado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051560"/>
          </a:xfrm>
          <a:prstGeom prst="rect">
            <a:avLst/>
          </a:prstGeom>
          <a:solidFill>
            <a:srgbClr val="2C6E49">
              <a:alpha val="75000"/>
            </a:srgbClr>
          </a:solidFill>
          <a:ln w="635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centralizadas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técnica integrada en la plataforma. Discusiones por parcela, con técnicos ATRIA y clientes export. Geofolia no lo tiene.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023360" cy="1051560"/>
          </a:xfrm>
          <a:prstGeom prst="rect">
            <a:avLst/>
          </a:prstGeom>
          <a:solidFill>
            <a:srgbClr val="2C6E49">
              <a:alpha val="75000"/>
            </a:srgbClr>
          </a:solidFill>
          <a:ln w="635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41732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Multi-explotación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Fruitum (convencional) y Fruchesco (eco) gestionadas desde un solo panel. Datos separados por certificación.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023360" cy="1051560"/>
          </a:xfrm>
          <a:prstGeom prst="rect">
            <a:avLst/>
          </a:prstGeom>
          <a:solidFill>
            <a:srgbClr val="2C6E49">
              <a:alpha val="75000"/>
            </a:srgbClr>
          </a:solidFill>
          <a:ln w="635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con Catastro WMS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satélite Esri + capa catastral española oficial integrada. Coordenadas GPS verificadas por parcela.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4023360" cy="1051560"/>
          </a:xfrm>
          <a:prstGeom prst="rect">
            <a:avLst/>
          </a:prstGeom>
          <a:solidFill>
            <a:srgbClr val="2C6E49">
              <a:alpha val="75000"/>
            </a:srgbClr>
          </a:solidFill>
          <a:ln w="635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60604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 exportación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 para cumplir GlobalGAP, certificación eco CAECV, LMR por mercado destino (UK, FR, NL).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023360" cy="1051560"/>
          </a:xfrm>
          <a:prstGeom prst="rect">
            <a:avLst/>
          </a:prstGeom>
          <a:solidFill>
            <a:srgbClr val="2C6E49">
              <a:alpha val="75000"/>
            </a:srgbClr>
          </a:solidFill>
          <a:ln w="635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9476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confección integrada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stock de envases, líneas de confección, cámaras frío y logística de expedición desde la plataforma.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023360" cy="1051560"/>
          </a:xfrm>
          <a:prstGeom prst="rect">
            <a:avLst/>
          </a:prstGeom>
          <a:solidFill>
            <a:srgbClr val="2C6E49">
              <a:alpha val="75000"/>
            </a:srgbClr>
          </a:solidFill>
          <a:ln w="6350">
            <a:solidFill>
              <a:srgbClr val="4C956C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79476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Desarrollada por Somos Sinergia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medida, soporte directo, personalización continua. Sin depender de multinacionales como ISAGRI.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Cumplimiento Normativo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SIEX, GlobalGAP, Certificación Ecológica CAECV y controles de exportación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41732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594360" cy="5943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Digital SIEX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013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obligatorio de todas las intervenciones fitosanitarias. Generación automática del cuaderno de explotación.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33172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594360" cy="5943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4048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GlobalGAP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7157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parcela a envío. Registro de productos, dosis, plazos de seguridad. Auditoría preparada.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24612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37560"/>
            <a:ext cx="594360" cy="5943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192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Ecológica CAECV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6301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separado de parcelas eco (Fruchesco). Productos autorizados ECO diferenciados en Vademecum.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16052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251960"/>
            <a:ext cx="594360" cy="5943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2336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LMR Export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5445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Límites Máximos de Residuos por mercado destino. Especial atención a UK post-Brexit.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2C6E49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274320"/>
            <a:ext cx="3200400" cy="3200400"/>
          </a:xfrm>
          <a:prstGeom prst="ellipse">
            <a:avLst/>
          </a:prstGeom>
          <a:solidFill>
            <a:srgbClr val="4C956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C6E49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AgroSinergia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agrícola de Fruitum &amp; Fruchesco,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plataforma.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3383280"/>
            <a:ext cx="4572000" cy="914400"/>
          </a:xfrm>
          <a:prstGeom prst="rect">
            <a:avLst/>
          </a:prstGeom>
          <a:solidFill>
            <a:srgbClr val="2C6E49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Miquel Jordá — Somos Sinergia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orihuela@somossinergia.es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 ·  Presentación comercial  ·  Somos Sinergia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AgroSinergia - Plataforma de Gestión Agrícola Integral</dc:title>
  <dc:subject>PptxGenJS Presentation</dc:subject>
  <dc:creator>Somos Sinergia</dc:creator>
  <cp:lastModifiedBy>Somos Sinergia</cp:lastModifiedBy>
  <cp:revision>1</cp:revision>
  <dcterms:created xsi:type="dcterms:W3CDTF">2026-03-04T07:49:22Z</dcterms:created>
  <dcterms:modified xsi:type="dcterms:W3CDTF">2026-03-04T07:49:22Z</dcterms:modified>
</cp:coreProperties>
</file>